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3" r:id="rId6"/>
    <p:sldId id="276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3725D-67C5-4DC1-872B-BDC2C6C15190}" v="221" dt="2026-01-04T06:25:49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z phl" userId="79c51f1f116880db" providerId="LiveId" clId="{4EA1B7A2-26E5-44BA-9989-AB4C1F57325F}"/>
    <pc:docChg chg="undo custSel addSld delSld modSld">
      <pc:chgData name="sanaz phl" userId="79c51f1f116880db" providerId="LiveId" clId="{4EA1B7A2-26E5-44BA-9989-AB4C1F57325F}" dt="2026-01-07T14:38:58.479" v="773" actId="113"/>
      <pc:docMkLst>
        <pc:docMk/>
      </pc:docMkLst>
      <pc:sldChg chg="addSp delSp modSp mod modClrScheme delDesignElem chgLayout">
        <pc:chgData name="sanaz phl" userId="79c51f1f116880db" providerId="LiveId" clId="{4EA1B7A2-26E5-44BA-9989-AB4C1F57325F}" dt="2026-01-04T06:40:29.732" v="746" actId="27636"/>
        <pc:sldMkLst>
          <pc:docMk/>
          <pc:sldMk cId="3046657332" sldId="256"/>
        </pc:sldMkLst>
        <pc:spChg chg="mod ord">
          <ac:chgData name="sanaz phl" userId="79c51f1f116880db" providerId="LiveId" clId="{4EA1B7A2-26E5-44BA-9989-AB4C1F57325F}" dt="2026-01-04T06:40:05.575" v="723" actId="700"/>
          <ac:spMkLst>
            <pc:docMk/>
            <pc:sldMk cId="3046657332" sldId="256"/>
            <ac:spMk id="2" creationId="{BC91D0CB-3916-8BFD-112F-AA65F35C565A}"/>
          </ac:spMkLst>
        </pc:spChg>
        <pc:spChg chg="mod ord">
          <ac:chgData name="sanaz phl" userId="79c51f1f116880db" providerId="LiveId" clId="{4EA1B7A2-26E5-44BA-9989-AB4C1F57325F}" dt="2026-01-04T06:40:29.732" v="746" actId="27636"/>
          <ac:spMkLst>
            <pc:docMk/>
            <pc:sldMk cId="3046657332" sldId="256"/>
            <ac:spMk id="3" creationId="{A74C70D3-3F2B-E68D-7B06-1AA41F14BCA0}"/>
          </ac:spMkLst>
        </pc:spChg>
        <pc:spChg chg="add del">
          <ac:chgData name="sanaz phl" userId="79c51f1f116880db" providerId="LiveId" clId="{4EA1B7A2-26E5-44BA-9989-AB4C1F57325F}" dt="2026-01-04T06:40:05.575" v="723" actId="700"/>
          <ac:spMkLst>
            <pc:docMk/>
            <pc:sldMk cId="3046657332" sldId="256"/>
            <ac:spMk id="9" creationId="{A88F843D-1C1B-C740-AC27-E3238D0F5F47}"/>
          </ac:spMkLst>
        </pc:spChg>
        <pc:spChg chg="add del">
          <ac:chgData name="sanaz phl" userId="79c51f1f116880db" providerId="LiveId" clId="{4EA1B7A2-26E5-44BA-9989-AB4C1F57325F}" dt="2026-01-04T06:40:05.575" v="723" actId="700"/>
          <ac:spMkLst>
            <pc:docMk/>
            <pc:sldMk cId="3046657332" sldId="256"/>
            <ac:spMk id="11" creationId="{A21C8291-E3D5-4240-8FF4-E5213CBCC453}"/>
          </ac:spMkLst>
        </pc:spChg>
        <pc:spChg chg="add del">
          <ac:chgData name="sanaz phl" userId="79c51f1f116880db" providerId="LiveId" clId="{4EA1B7A2-26E5-44BA-9989-AB4C1F57325F}" dt="2026-01-04T06:40:05.575" v="723" actId="700"/>
          <ac:spMkLst>
            <pc:docMk/>
            <pc:sldMk cId="3046657332" sldId="256"/>
            <ac:spMk id="13" creationId="{08B44AFE-C181-7047-8CC9-CA00BD385EEA}"/>
          </ac:spMkLst>
        </pc:spChg>
      </pc:sldChg>
      <pc:sldChg chg="addSp delSp modSp mod">
        <pc:chgData name="sanaz phl" userId="79c51f1f116880db" providerId="LiveId" clId="{4EA1B7A2-26E5-44BA-9989-AB4C1F57325F}" dt="2026-01-05T10:15:16.809" v="747" actId="20577"/>
        <pc:sldMkLst>
          <pc:docMk/>
          <pc:sldMk cId="2130796137" sldId="263"/>
        </pc:sldMkLst>
        <pc:graphicFrameChg chg="add mod ord modGraphic">
          <ac:chgData name="sanaz phl" userId="79c51f1f116880db" providerId="LiveId" clId="{4EA1B7A2-26E5-44BA-9989-AB4C1F57325F}" dt="2026-01-05T10:15:16.809" v="747" actId="20577"/>
          <ac:graphicFrameMkLst>
            <pc:docMk/>
            <pc:sldMk cId="2130796137" sldId="263"/>
            <ac:graphicFrameMk id="5" creationId="{28F51E8F-D149-B7E2-8247-15396CE9D342}"/>
          </ac:graphicFrameMkLst>
        </pc:graphicFrameChg>
      </pc:sldChg>
      <pc:sldChg chg="addSp delSp modSp new mod">
        <pc:chgData name="sanaz phl" userId="79c51f1f116880db" providerId="LiveId" clId="{4EA1B7A2-26E5-44BA-9989-AB4C1F57325F}" dt="2025-12-27T06:00:08.009" v="531" actId="20577"/>
        <pc:sldMkLst>
          <pc:docMk/>
          <pc:sldMk cId="1878474298" sldId="264"/>
        </pc:sldMkLst>
        <pc:graphicFrameChg chg="add mod ord modGraphic">
          <ac:chgData name="sanaz phl" userId="79c51f1f116880db" providerId="LiveId" clId="{4EA1B7A2-26E5-44BA-9989-AB4C1F57325F}" dt="2025-12-27T06:00:08.009" v="531" actId="20577"/>
          <ac:graphicFrameMkLst>
            <pc:docMk/>
            <pc:sldMk cId="1878474298" sldId="264"/>
            <ac:graphicFrameMk id="4" creationId="{BEE83AF7-FBA5-F4EF-C87C-029C6A2C15AD}"/>
          </ac:graphicFrameMkLst>
        </pc:graphicFrameChg>
      </pc:sldChg>
      <pc:sldChg chg="modSp mod">
        <pc:chgData name="sanaz phl" userId="79c51f1f116880db" providerId="LiveId" clId="{4EA1B7A2-26E5-44BA-9989-AB4C1F57325F}" dt="2026-01-07T14:16:42.995" v="759" actId="20577"/>
        <pc:sldMkLst>
          <pc:docMk/>
          <pc:sldMk cId="3279023082" sldId="265"/>
        </pc:sldMkLst>
        <pc:spChg chg="mod">
          <ac:chgData name="sanaz phl" userId="79c51f1f116880db" providerId="LiveId" clId="{4EA1B7A2-26E5-44BA-9989-AB4C1F57325F}" dt="2026-01-07T14:16:42.995" v="759" actId="20577"/>
          <ac:spMkLst>
            <pc:docMk/>
            <pc:sldMk cId="3279023082" sldId="265"/>
            <ac:spMk id="2" creationId="{BB2DAC3C-3487-23FF-24D6-C97C70FACFB0}"/>
          </ac:spMkLst>
        </pc:spChg>
      </pc:sldChg>
      <pc:sldChg chg="addSp delSp modSp new mod">
        <pc:chgData name="sanaz phl" userId="79c51f1f116880db" providerId="LiveId" clId="{4EA1B7A2-26E5-44BA-9989-AB4C1F57325F}" dt="2026-01-07T14:17:04.405" v="767" actId="20577"/>
        <pc:sldMkLst>
          <pc:docMk/>
          <pc:sldMk cId="2112370837" sldId="266"/>
        </pc:sldMkLst>
        <pc:spChg chg="mod">
          <ac:chgData name="sanaz phl" userId="79c51f1f116880db" providerId="LiveId" clId="{4EA1B7A2-26E5-44BA-9989-AB4C1F57325F}" dt="2026-01-07T14:17:04.405" v="767" actId="20577"/>
          <ac:spMkLst>
            <pc:docMk/>
            <pc:sldMk cId="2112370837" sldId="266"/>
            <ac:spMk id="2" creationId="{2E008175-FA95-CE8C-C4FB-2ED00D02C343}"/>
          </ac:spMkLst>
        </pc:spChg>
        <pc:graphicFrameChg chg="add mod ord modGraphic">
          <ac:chgData name="sanaz phl" userId="79c51f1f116880db" providerId="LiveId" clId="{4EA1B7A2-26E5-44BA-9989-AB4C1F57325F}" dt="2025-12-21T05:17:59.223" v="323" actId="122"/>
          <ac:graphicFrameMkLst>
            <pc:docMk/>
            <pc:sldMk cId="2112370837" sldId="266"/>
            <ac:graphicFrameMk id="4" creationId="{A24673F5-4F74-8816-36FE-AAA89CC76963}"/>
          </ac:graphicFrameMkLst>
        </pc:graphicFrameChg>
      </pc:sldChg>
      <pc:sldChg chg="addSp delSp modSp new mod">
        <pc:chgData name="sanaz phl" userId="79c51f1f116880db" providerId="LiveId" clId="{4EA1B7A2-26E5-44BA-9989-AB4C1F57325F}" dt="2025-12-21T05:26:15.286" v="332" actId="14100"/>
        <pc:sldMkLst>
          <pc:docMk/>
          <pc:sldMk cId="2543774713" sldId="267"/>
        </pc:sldMkLst>
        <pc:spChg chg="mod">
          <ac:chgData name="sanaz phl" userId="79c51f1f116880db" providerId="LiveId" clId="{4EA1B7A2-26E5-44BA-9989-AB4C1F57325F}" dt="2025-12-21T05:12:34.701" v="308"/>
          <ac:spMkLst>
            <pc:docMk/>
            <pc:sldMk cId="2543774713" sldId="267"/>
            <ac:spMk id="2" creationId="{3475906C-663E-5CD3-C7CC-59E896E65DAE}"/>
          </ac:spMkLst>
        </pc:spChg>
        <pc:graphicFrameChg chg="add mod ord modGraphic">
          <ac:chgData name="sanaz phl" userId="79c51f1f116880db" providerId="LiveId" clId="{4EA1B7A2-26E5-44BA-9989-AB4C1F57325F}" dt="2025-12-21T05:26:15.286" v="332" actId="14100"/>
          <ac:graphicFrameMkLst>
            <pc:docMk/>
            <pc:sldMk cId="2543774713" sldId="267"/>
            <ac:graphicFrameMk id="4" creationId="{D6FF2872-94C0-6805-498B-EFB4B25E01DB}"/>
          </ac:graphicFrameMkLst>
        </pc:graphicFrameChg>
      </pc:sldChg>
      <pc:sldChg chg="addSp delSp modSp new mod">
        <pc:chgData name="sanaz phl" userId="79c51f1f116880db" providerId="LiveId" clId="{4EA1B7A2-26E5-44BA-9989-AB4C1F57325F}" dt="2025-12-21T05:42:20.587" v="452" actId="1076"/>
        <pc:sldMkLst>
          <pc:docMk/>
          <pc:sldMk cId="2047930143" sldId="268"/>
        </pc:sldMkLst>
        <pc:spChg chg="mod">
          <ac:chgData name="sanaz phl" userId="79c51f1f116880db" providerId="LiveId" clId="{4EA1B7A2-26E5-44BA-9989-AB4C1F57325F}" dt="2025-12-21T05:42:10.470" v="451" actId="255"/>
          <ac:spMkLst>
            <pc:docMk/>
            <pc:sldMk cId="2047930143" sldId="268"/>
            <ac:spMk id="2" creationId="{BD3770CD-9479-F3F9-FE15-AD980204CD22}"/>
          </ac:spMkLst>
        </pc:spChg>
        <pc:graphicFrameChg chg="add mod ord modGraphic">
          <ac:chgData name="sanaz phl" userId="79c51f1f116880db" providerId="LiveId" clId="{4EA1B7A2-26E5-44BA-9989-AB4C1F57325F}" dt="2025-12-21T05:42:20.587" v="452" actId="1076"/>
          <ac:graphicFrameMkLst>
            <pc:docMk/>
            <pc:sldMk cId="2047930143" sldId="268"/>
            <ac:graphicFrameMk id="4" creationId="{F717BEA7-DB1E-65FE-AB45-FB52647AE4CE}"/>
          </ac:graphicFrameMkLst>
        </pc:graphicFrameChg>
      </pc:sldChg>
      <pc:sldChg chg="modSp new mod">
        <pc:chgData name="sanaz phl" userId="79c51f1f116880db" providerId="LiveId" clId="{4EA1B7A2-26E5-44BA-9989-AB4C1F57325F}" dt="2025-12-25T06:46:36.916" v="462"/>
        <pc:sldMkLst>
          <pc:docMk/>
          <pc:sldMk cId="2825802980" sldId="269"/>
        </pc:sldMkLst>
        <pc:spChg chg="mod">
          <ac:chgData name="sanaz phl" userId="79c51f1f116880db" providerId="LiveId" clId="{4EA1B7A2-26E5-44BA-9989-AB4C1F57325F}" dt="2025-12-25T06:44:34.981" v="455" actId="14100"/>
          <ac:spMkLst>
            <pc:docMk/>
            <pc:sldMk cId="2825802980" sldId="269"/>
            <ac:spMk id="2" creationId="{1DF1B051-5073-16CB-BE32-65E4689E4B7B}"/>
          </ac:spMkLst>
        </pc:spChg>
        <pc:spChg chg="mod">
          <ac:chgData name="sanaz phl" userId="79c51f1f116880db" providerId="LiveId" clId="{4EA1B7A2-26E5-44BA-9989-AB4C1F57325F}" dt="2025-12-25T06:46:36.916" v="462"/>
          <ac:spMkLst>
            <pc:docMk/>
            <pc:sldMk cId="2825802980" sldId="269"/>
            <ac:spMk id="3" creationId="{0C6CD8F4-5C45-681B-4E73-1CC8C26CF30E}"/>
          </ac:spMkLst>
        </pc:spChg>
      </pc:sldChg>
      <pc:sldChg chg="addSp delSp modSp new mod">
        <pc:chgData name="sanaz phl" userId="79c51f1f116880db" providerId="LiveId" clId="{4EA1B7A2-26E5-44BA-9989-AB4C1F57325F}" dt="2025-12-25T06:55:04.311" v="525" actId="12385"/>
        <pc:sldMkLst>
          <pc:docMk/>
          <pc:sldMk cId="1455489103" sldId="270"/>
        </pc:sldMkLst>
        <pc:spChg chg="mod">
          <ac:chgData name="sanaz phl" userId="79c51f1f116880db" providerId="LiveId" clId="{4EA1B7A2-26E5-44BA-9989-AB4C1F57325F}" dt="2025-12-25T06:49:59.402" v="465" actId="255"/>
          <ac:spMkLst>
            <pc:docMk/>
            <pc:sldMk cId="1455489103" sldId="270"/>
            <ac:spMk id="2" creationId="{06479B02-39DC-79F6-2913-370B98F0E7FB}"/>
          </ac:spMkLst>
        </pc:spChg>
        <pc:graphicFrameChg chg="add mod ord modGraphic">
          <ac:chgData name="sanaz phl" userId="79c51f1f116880db" providerId="LiveId" clId="{4EA1B7A2-26E5-44BA-9989-AB4C1F57325F}" dt="2025-12-25T06:55:04.311" v="525" actId="12385"/>
          <ac:graphicFrameMkLst>
            <pc:docMk/>
            <pc:sldMk cId="1455489103" sldId="270"/>
            <ac:graphicFrameMk id="7" creationId="{D6313D3A-36BB-9D43-785F-2C9154DF4826}"/>
          </ac:graphicFrameMkLst>
        </pc:graphicFrameChg>
      </pc:sldChg>
      <pc:sldChg chg="addSp delSp modSp new mod">
        <pc:chgData name="sanaz phl" userId="79c51f1f116880db" providerId="LiveId" clId="{4EA1B7A2-26E5-44BA-9989-AB4C1F57325F}" dt="2026-01-02T16:29:17.556" v="697" actId="113"/>
        <pc:sldMkLst>
          <pc:docMk/>
          <pc:sldMk cId="2896478143" sldId="271"/>
        </pc:sldMkLst>
        <pc:spChg chg="mod">
          <ac:chgData name="sanaz phl" userId="79c51f1f116880db" providerId="LiveId" clId="{4EA1B7A2-26E5-44BA-9989-AB4C1F57325F}" dt="2026-01-02T16:26:08.749" v="672" actId="1076"/>
          <ac:spMkLst>
            <pc:docMk/>
            <pc:sldMk cId="2896478143" sldId="271"/>
            <ac:spMk id="2" creationId="{03DBB094-99AC-3D6A-2B0F-BD7B754A4B6D}"/>
          </ac:spMkLst>
        </pc:spChg>
        <pc:graphicFrameChg chg="add mod ord modGraphic">
          <ac:chgData name="sanaz phl" userId="79c51f1f116880db" providerId="LiveId" clId="{4EA1B7A2-26E5-44BA-9989-AB4C1F57325F}" dt="2026-01-02T16:29:17.556" v="697" actId="113"/>
          <ac:graphicFrameMkLst>
            <pc:docMk/>
            <pc:sldMk cId="2896478143" sldId="271"/>
            <ac:graphicFrameMk id="6" creationId="{6725A13C-68FF-4C4B-5E2A-2DA7575F042A}"/>
          </ac:graphicFrameMkLst>
        </pc:graphicFrameChg>
      </pc:sldChg>
      <pc:sldChg chg="addSp delSp modSp new mod">
        <pc:chgData name="sanaz phl" userId="79c51f1f116880db" providerId="LiveId" clId="{4EA1B7A2-26E5-44BA-9989-AB4C1F57325F}" dt="2025-12-30T09:26:41.289" v="578" actId="113"/>
        <pc:sldMkLst>
          <pc:docMk/>
          <pc:sldMk cId="2752994862" sldId="272"/>
        </pc:sldMkLst>
        <pc:spChg chg="mod">
          <ac:chgData name="sanaz phl" userId="79c51f1f116880db" providerId="LiveId" clId="{4EA1B7A2-26E5-44BA-9989-AB4C1F57325F}" dt="2025-12-30T09:24:45.410" v="562" actId="20577"/>
          <ac:spMkLst>
            <pc:docMk/>
            <pc:sldMk cId="2752994862" sldId="272"/>
            <ac:spMk id="2" creationId="{6959E15C-1BD1-301B-FC5B-843326B90E7D}"/>
          </ac:spMkLst>
        </pc:spChg>
        <pc:graphicFrameChg chg="add mod ord modGraphic">
          <ac:chgData name="sanaz phl" userId="79c51f1f116880db" providerId="LiveId" clId="{4EA1B7A2-26E5-44BA-9989-AB4C1F57325F}" dt="2025-12-30T09:26:41.289" v="578" actId="113"/>
          <ac:graphicFrameMkLst>
            <pc:docMk/>
            <pc:sldMk cId="2752994862" sldId="272"/>
            <ac:graphicFrameMk id="4" creationId="{7E4378B6-DEC5-DBA9-5D40-FD75884F752C}"/>
          </ac:graphicFrameMkLst>
        </pc:graphicFrameChg>
      </pc:sldChg>
      <pc:sldChg chg="addSp delSp modSp new mod">
        <pc:chgData name="sanaz phl" userId="79c51f1f116880db" providerId="LiveId" clId="{4EA1B7A2-26E5-44BA-9989-AB4C1F57325F}" dt="2026-01-07T14:38:58.479" v="773" actId="113"/>
        <pc:sldMkLst>
          <pc:docMk/>
          <pc:sldMk cId="253902326" sldId="273"/>
        </pc:sldMkLst>
        <pc:spChg chg="mod">
          <ac:chgData name="sanaz phl" userId="79c51f1f116880db" providerId="LiveId" clId="{4EA1B7A2-26E5-44BA-9989-AB4C1F57325F}" dt="2025-12-30T16:36:14.988" v="602" actId="1076"/>
          <ac:spMkLst>
            <pc:docMk/>
            <pc:sldMk cId="253902326" sldId="273"/>
            <ac:spMk id="2" creationId="{8EC3D671-CAD3-E506-724F-79FB8785568C}"/>
          </ac:spMkLst>
        </pc:spChg>
        <pc:graphicFrameChg chg="add mod ord modGraphic">
          <ac:chgData name="sanaz phl" userId="79c51f1f116880db" providerId="LiveId" clId="{4EA1B7A2-26E5-44BA-9989-AB4C1F57325F}" dt="2026-01-07T14:38:58.479" v="773" actId="113"/>
          <ac:graphicFrameMkLst>
            <pc:docMk/>
            <pc:sldMk cId="253902326" sldId="273"/>
            <ac:graphicFrameMk id="4" creationId="{A8F05C55-03CD-79A9-C193-FD5B62671B4E}"/>
          </ac:graphicFrameMkLst>
        </pc:graphicFrameChg>
      </pc:sldChg>
      <pc:sldChg chg="addSp delSp modSp new mod">
        <pc:chgData name="sanaz phl" userId="79c51f1f116880db" providerId="LiveId" clId="{4EA1B7A2-26E5-44BA-9989-AB4C1F57325F}" dt="2026-01-01T07:33:27.625" v="636" actId="1076"/>
        <pc:sldMkLst>
          <pc:docMk/>
          <pc:sldMk cId="2334543144" sldId="274"/>
        </pc:sldMkLst>
        <pc:spChg chg="mod">
          <ac:chgData name="sanaz phl" userId="79c51f1f116880db" providerId="LiveId" clId="{4EA1B7A2-26E5-44BA-9989-AB4C1F57325F}" dt="2026-01-01T07:30:41.243" v="604"/>
          <ac:spMkLst>
            <pc:docMk/>
            <pc:sldMk cId="2334543144" sldId="274"/>
            <ac:spMk id="2" creationId="{0970AF49-139E-51F3-8983-6A1FF7C8F7F3}"/>
          </ac:spMkLst>
        </pc:spChg>
        <pc:spChg chg="add mod">
          <ac:chgData name="sanaz phl" userId="79c51f1f116880db" providerId="LiveId" clId="{4EA1B7A2-26E5-44BA-9989-AB4C1F57325F}" dt="2026-01-01T07:33:27.625" v="636" actId="1076"/>
          <ac:spMkLst>
            <pc:docMk/>
            <pc:sldMk cId="2334543144" sldId="274"/>
            <ac:spMk id="5" creationId="{4885F530-803B-EEAD-C5A1-D9F7CBFF24C7}"/>
          </ac:spMkLst>
        </pc:spChg>
      </pc:sldChg>
      <pc:sldChg chg="modSp new mod">
        <pc:chgData name="sanaz phl" userId="79c51f1f116880db" providerId="LiveId" clId="{4EA1B7A2-26E5-44BA-9989-AB4C1F57325F}" dt="2026-01-01T07:37:01.659" v="658" actId="20577"/>
        <pc:sldMkLst>
          <pc:docMk/>
          <pc:sldMk cId="867529512" sldId="275"/>
        </pc:sldMkLst>
        <pc:spChg chg="mod">
          <ac:chgData name="sanaz phl" userId="79c51f1f116880db" providerId="LiveId" clId="{4EA1B7A2-26E5-44BA-9989-AB4C1F57325F}" dt="2026-01-01T07:36:30.953" v="644" actId="20577"/>
          <ac:spMkLst>
            <pc:docMk/>
            <pc:sldMk cId="867529512" sldId="275"/>
            <ac:spMk id="2" creationId="{C858CB4C-5F2F-EA05-13DF-6A713139AA02}"/>
          </ac:spMkLst>
        </pc:spChg>
        <pc:spChg chg="mod">
          <ac:chgData name="sanaz phl" userId="79c51f1f116880db" providerId="LiveId" clId="{4EA1B7A2-26E5-44BA-9989-AB4C1F57325F}" dt="2026-01-01T07:37:01.659" v="658" actId="20577"/>
          <ac:spMkLst>
            <pc:docMk/>
            <pc:sldMk cId="867529512" sldId="275"/>
            <ac:spMk id="3" creationId="{25D478A1-EC3D-45E9-AE10-06B9D293FFE4}"/>
          </ac:spMkLst>
        </pc:spChg>
      </pc:sldChg>
      <pc:sldChg chg="addSp delSp modSp new mod">
        <pc:chgData name="sanaz phl" userId="79c51f1f116880db" providerId="LiveId" clId="{4EA1B7A2-26E5-44BA-9989-AB4C1F57325F}" dt="2026-01-04T06:24:46.002" v="712" actId="1076"/>
        <pc:sldMkLst>
          <pc:docMk/>
          <pc:sldMk cId="4196531253" sldId="276"/>
        </pc:sldMkLst>
        <pc:spChg chg="mod">
          <ac:chgData name="sanaz phl" userId="79c51f1f116880db" providerId="LiveId" clId="{4EA1B7A2-26E5-44BA-9989-AB4C1F57325F}" dt="2026-01-04T06:24:43.215" v="711" actId="14100"/>
          <ac:spMkLst>
            <pc:docMk/>
            <pc:sldMk cId="4196531253" sldId="276"/>
            <ac:spMk id="2" creationId="{62FBFFB1-2521-CDC5-25F3-07C8FE1518B6}"/>
          </ac:spMkLst>
        </pc:spChg>
        <pc:picChg chg="add mod">
          <ac:chgData name="sanaz phl" userId="79c51f1f116880db" providerId="LiveId" clId="{4EA1B7A2-26E5-44BA-9989-AB4C1F57325F}" dt="2026-01-04T06:24:46.002" v="712" actId="1076"/>
          <ac:picMkLst>
            <pc:docMk/>
            <pc:sldMk cId="4196531253" sldId="276"/>
            <ac:picMk id="5" creationId="{FD144120-DD96-AEDD-C63D-B0BDEFBAB3F3}"/>
          </ac:picMkLst>
        </pc:picChg>
      </pc:sldChg>
      <pc:sldChg chg="addSp delSp modSp new mod">
        <pc:chgData name="sanaz phl" userId="79c51f1f116880db" providerId="LiveId" clId="{4EA1B7A2-26E5-44BA-9989-AB4C1F57325F}" dt="2026-01-04T06:26:16.846" v="719" actId="14100"/>
        <pc:sldMkLst>
          <pc:docMk/>
          <pc:sldMk cId="3712733938" sldId="277"/>
        </pc:sldMkLst>
        <pc:spChg chg="mod">
          <ac:chgData name="sanaz phl" userId="79c51f1f116880db" providerId="LiveId" clId="{4EA1B7A2-26E5-44BA-9989-AB4C1F57325F}" dt="2026-01-04T06:26:11.371" v="717" actId="14100"/>
          <ac:spMkLst>
            <pc:docMk/>
            <pc:sldMk cId="3712733938" sldId="277"/>
            <ac:spMk id="2" creationId="{09029CB6-BF11-ED84-C23E-D30F3BA9C13E}"/>
          </ac:spMkLst>
        </pc:spChg>
        <pc:picChg chg="add mod">
          <ac:chgData name="sanaz phl" userId="79c51f1f116880db" providerId="LiveId" clId="{4EA1B7A2-26E5-44BA-9989-AB4C1F57325F}" dt="2026-01-04T06:26:16.846" v="719" actId="14100"/>
          <ac:picMkLst>
            <pc:docMk/>
            <pc:sldMk cId="3712733938" sldId="277"/>
            <ac:picMk id="5" creationId="{BA11442F-DD0B-FFF8-5224-EFBEA7EA58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19EE7-D04B-4DA6-AA21-C71916DDD1EC}" type="datetimeFigureOut">
              <a:rPr lang="en-MY" smtClean="0"/>
              <a:t>7/1/2026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FD6B0-A65F-4A7C-9134-D12C3EFA19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620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FD6B0-A65F-4A7C-9134-D12C3EFA19BF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44171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7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7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5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2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5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1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3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89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1D0CB-3916-8BFD-112F-AA65F35C5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3134" y="314452"/>
            <a:ext cx="4685818" cy="3450844"/>
          </a:xfrm>
        </p:spPr>
        <p:txBody>
          <a:bodyPr>
            <a:normAutofit/>
          </a:bodyPr>
          <a:lstStyle/>
          <a:p>
            <a:r>
              <a:rPr lang="en-MY" sz="4800" dirty="0"/>
              <a:t>Cloud Infrastructure 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C70D3-3F2B-E68D-7B06-1AA41F14B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6445" y="2584173"/>
            <a:ext cx="4639195" cy="2763079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 err="1"/>
              <a:t>GoGreen</a:t>
            </a:r>
            <a:r>
              <a:rPr lang="en-US" sz="3200" dirty="0"/>
              <a:t> Insurance Company</a:t>
            </a:r>
          </a:p>
          <a:p>
            <a:r>
              <a:rPr lang="en-US" sz="3200" dirty="0"/>
              <a:t>Cloud Architecture Proposal</a:t>
            </a:r>
          </a:p>
          <a:p>
            <a:endParaRPr lang="en-US" sz="3200" dirty="0"/>
          </a:p>
          <a:p>
            <a:r>
              <a:rPr lang="en-US" sz="3200" dirty="0"/>
              <a:t>Sanaz </a:t>
            </a:r>
            <a:r>
              <a:rPr lang="en-US" sz="3200" dirty="0" err="1"/>
              <a:t>Pahlavani</a:t>
            </a:r>
            <a:r>
              <a:rPr lang="en-US" sz="3200" dirty="0"/>
              <a:t> </a:t>
            </a:r>
            <a:endParaRPr lang="en-MY" sz="3200" dirty="0"/>
          </a:p>
        </p:txBody>
      </p:sp>
      <p:pic>
        <p:nvPicPr>
          <p:cNvPr id="4" name="Picture 3" descr="Fishponds">
            <a:extLst>
              <a:ext uri="{FF2B5EF4-FFF2-40B4-BE49-F238E27FC236}">
                <a16:creationId xmlns:a16="http://schemas.microsoft.com/office/drawing/2014/main" id="{3D7A49BE-89E9-3BF0-2B6E-656998FF1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0" r="12286" b="375"/>
          <a:stretch>
            <a:fillRect/>
          </a:stretch>
        </p:blipFill>
        <p:spPr>
          <a:xfrm>
            <a:off x="-1" y="10"/>
            <a:ext cx="7456513" cy="6857990"/>
          </a:xfrm>
          <a:custGeom>
            <a:avLst/>
            <a:gdLst/>
            <a:ahLst/>
            <a:cxnLst/>
            <a:rect l="l" t="t" r="r" b="b"/>
            <a:pathLst>
              <a:path w="7456513" h="6858000">
                <a:moveTo>
                  <a:pt x="0" y="0"/>
                </a:moveTo>
                <a:lnTo>
                  <a:pt x="6059386" y="0"/>
                </a:lnTo>
                <a:lnTo>
                  <a:pt x="6059386" y="1375489"/>
                </a:lnTo>
                <a:lnTo>
                  <a:pt x="7456513" y="1375489"/>
                </a:lnTo>
                <a:lnTo>
                  <a:pt x="74565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5818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5818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5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68EB-02CD-1751-FB71-F30F1EA2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697577"/>
          </a:xfrm>
        </p:spPr>
        <p:txBody>
          <a:bodyPr>
            <a:normAutofit/>
          </a:bodyPr>
          <a:lstStyle/>
          <a:p>
            <a:pPr algn="ctr"/>
            <a:r>
              <a:rPr lang="en-MY" sz="2800" dirty="0"/>
              <a:t>Company Background &amp; Current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52FF-923B-5E01-1756-A45FC5519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117" y="1287117"/>
            <a:ext cx="10704443" cy="5570883"/>
          </a:xfrm>
        </p:spPr>
        <p:txBody>
          <a:bodyPr/>
          <a:lstStyle/>
          <a:p>
            <a:r>
              <a:rPr lang="en-US" dirty="0" err="1"/>
              <a:t>GoGreen</a:t>
            </a:r>
            <a:r>
              <a:rPr lang="en-US" dirty="0"/>
              <a:t> Insurance currently operates a legacy hosting environment that no longer meets the company’s performance, availability and reliability needs. Their existing infrastructure lacks multi-AZ high availability, struggles to maintain stable database performance and provides limited patching flexibility. Additionally, backup and recovery practices are insufficient to meet the required RPO of 4 hours and the organization lacks a secure and scalable document management solution. Due to these limitations and the increasing reliance on digital services, </a:t>
            </a:r>
            <a:r>
              <a:rPr lang="en-US" dirty="0" err="1"/>
              <a:t>GoGreen</a:t>
            </a:r>
            <a:r>
              <a:rPr lang="en-US" dirty="0"/>
              <a:t> Insurance has engaged us to design a modern cloud architecture capable of delivering consistent performance (including a 21,000 IOPS database requirement), high availability, secure storage and improved operational efficiency while avoiding any changes to the existing database schema.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5661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003D-F9A2-FE62-5105-481D694A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637" y="276457"/>
            <a:ext cx="9486690" cy="558429"/>
          </a:xfrm>
        </p:spPr>
        <p:txBody>
          <a:bodyPr>
            <a:normAutofit/>
          </a:bodyPr>
          <a:lstStyle/>
          <a:p>
            <a:pPr algn="ctr"/>
            <a:r>
              <a:rPr lang="en-MY" sz="2800" dirty="0"/>
              <a:t>Current Infrastructure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7929D-B59C-1EA8-C542-ECBD8B420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635" y="1113183"/>
            <a:ext cx="10336695" cy="57448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Limited High Availability</a:t>
            </a:r>
          </a:p>
          <a:p>
            <a:pPr marL="0" indent="0">
              <a:buNone/>
            </a:pPr>
            <a:r>
              <a:rPr lang="en-US" dirty="0"/>
              <a:t>The current solution does not adequately protect the business from system outages (e.g., server failures or site failures).</a:t>
            </a:r>
            <a:br>
              <a:rPr lang="en-US" dirty="0"/>
            </a:br>
            <a:r>
              <a:rPr lang="en-US" dirty="0"/>
              <a:t>There is no multi-Availability Zone or multi-region redundancy.</a:t>
            </a:r>
            <a:br>
              <a:rPr lang="en-US" dirty="0"/>
            </a:br>
            <a:r>
              <a:rPr lang="en-US" dirty="0"/>
              <a:t>This exposes the company to downtime that can interrupt business operations.</a:t>
            </a:r>
          </a:p>
          <a:p>
            <a:pPr marL="0" indent="0">
              <a:buNone/>
            </a:pPr>
            <a:r>
              <a:rPr lang="en-US" b="1" dirty="0"/>
              <a:t>2. Inconsistent Storage and Database Performance</a:t>
            </a:r>
          </a:p>
          <a:p>
            <a:pPr marL="0" indent="0">
              <a:buNone/>
            </a:pPr>
            <a:r>
              <a:rPr lang="en-US" dirty="0"/>
              <a:t>The legacy database system cannot reliably deliver the performance levels the business now requires.</a:t>
            </a:r>
            <a:br>
              <a:rPr lang="en-US" dirty="0"/>
            </a:br>
            <a:r>
              <a:rPr lang="en-US" dirty="0"/>
              <a:t>The case study highlights that the system must guarantee </a:t>
            </a:r>
            <a:r>
              <a:rPr lang="en-US" b="1" dirty="0"/>
              <a:t>21,000 IOPS</a:t>
            </a:r>
            <a:r>
              <a:rPr lang="en-US" dirty="0"/>
              <a:t>, which the existing environment cannot sustain.</a:t>
            </a:r>
          </a:p>
          <a:p>
            <a:pPr marL="0" indent="0">
              <a:buNone/>
            </a:pPr>
            <a:r>
              <a:rPr lang="en-US" dirty="0"/>
              <a:t>This performance requirement is tied to the company's growing transaction volume and the need for stable, predictable response times.</a:t>
            </a:r>
          </a:p>
          <a:p>
            <a:pPr marL="0" indent="0">
              <a:buNone/>
            </a:pPr>
            <a:r>
              <a:rPr lang="en-US" b="1" dirty="0"/>
              <a:t>3. Maintenance and Patching Limitations</a:t>
            </a:r>
          </a:p>
          <a:p>
            <a:pPr marL="0" indent="0">
              <a:buNone/>
            </a:pPr>
            <a:r>
              <a:rPr lang="en-US" dirty="0"/>
              <a:t>The current environment makes patching risky or difficult, because changes often impact application stability or require downtime.</a:t>
            </a:r>
            <a:br>
              <a:rPr lang="en-US" dirty="0"/>
            </a:br>
            <a:r>
              <a:rPr lang="en-US" dirty="0"/>
              <a:t>Additionally, the case notes that the database schema cannot be changed at this time, so any new environment must remain compatible while still allowing safe patching and updates.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0039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140E-3B63-30B7-9794-7122085A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628003"/>
          </a:xfrm>
        </p:spPr>
        <p:txBody>
          <a:bodyPr>
            <a:normAutofit/>
          </a:bodyPr>
          <a:lstStyle/>
          <a:p>
            <a:pPr algn="ctr"/>
            <a:r>
              <a:rPr lang="en-MY" sz="3200" dirty="0"/>
              <a:t>Current Infrastructure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4CE7-7A80-1FC2-2244-7347E0170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8136" y="1262268"/>
            <a:ext cx="9486690" cy="54714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4. Weak or Manual Backup &amp; Recovery Processes</a:t>
            </a:r>
          </a:p>
          <a:p>
            <a:pPr marL="0" indent="0">
              <a:buNone/>
            </a:pPr>
            <a:r>
              <a:rPr lang="en-US" dirty="0" err="1"/>
              <a:t>GoGreen</a:t>
            </a:r>
            <a:r>
              <a:rPr lang="en-US" dirty="0"/>
              <a:t> needs an RPO (Recovery Point Objective) of 4 hours.</a:t>
            </a:r>
            <a:br>
              <a:rPr lang="en-US" dirty="0"/>
            </a:br>
            <a:r>
              <a:rPr lang="en-US" dirty="0"/>
              <a:t>The existing setup does not meet this requirement reliably.</a:t>
            </a:r>
            <a:br>
              <a:rPr lang="en-US" dirty="0"/>
            </a:br>
            <a:r>
              <a:rPr lang="en-US" dirty="0"/>
              <a:t>In the event of a system failure, the company risks losing more than 4 hours of data, which is unacceptable for both compliance and business continuity.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5. Document Storage Issues</a:t>
            </a:r>
          </a:p>
          <a:p>
            <a:pPr marL="0" indent="0">
              <a:buNone/>
            </a:pPr>
            <a:r>
              <a:rPr lang="en-US" dirty="0"/>
              <a:t>The company stores and accesses documents as part of its insurance workflow, but the current solution lacks:</a:t>
            </a:r>
          </a:p>
          <a:p>
            <a:pPr marL="0" indent="0">
              <a:buNone/>
            </a:pPr>
            <a:r>
              <a:rPr lang="en-US" dirty="0"/>
              <a:t>centralized storage</a:t>
            </a:r>
          </a:p>
          <a:p>
            <a:pPr marL="0" indent="0">
              <a:buNone/>
            </a:pPr>
            <a:r>
              <a:rPr lang="en-US" dirty="0"/>
              <a:t>lifecycle management</a:t>
            </a:r>
          </a:p>
          <a:p>
            <a:pPr marL="0" indent="0">
              <a:buNone/>
            </a:pPr>
            <a:r>
              <a:rPr lang="en-US" dirty="0"/>
              <a:t>encryption</a:t>
            </a:r>
          </a:p>
          <a:p>
            <a:pPr marL="0" indent="0">
              <a:buNone/>
            </a:pPr>
            <a:r>
              <a:rPr lang="en-US" dirty="0"/>
              <a:t>durability guarantees</a:t>
            </a:r>
          </a:p>
          <a:p>
            <a:pPr marL="0" indent="0">
              <a:buNone/>
            </a:pPr>
            <a:r>
              <a:rPr lang="en-US" dirty="0"/>
              <a:t>This raises risks around data loss, compliance and long-term file management.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1063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7371-6475-BA41-5594-9023A795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–Network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F51E8F-D149-B7E2-8247-15396CE9D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642355"/>
              </p:ext>
            </p:extLst>
          </p:nvPr>
        </p:nvGraphicFramePr>
        <p:xfrm>
          <a:off x="1503017" y="2225192"/>
          <a:ext cx="10384183" cy="3004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22840">
                  <a:extLst>
                    <a:ext uri="{9D8B030D-6E8A-4147-A177-3AD203B41FA5}">
                      <a16:colId xmlns:a16="http://schemas.microsoft.com/office/drawing/2014/main" val="1055282226"/>
                    </a:ext>
                  </a:extLst>
                </a:gridCol>
                <a:gridCol w="1530625">
                  <a:extLst>
                    <a:ext uri="{9D8B030D-6E8A-4147-A177-3AD203B41FA5}">
                      <a16:colId xmlns:a16="http://schemas.microsoft.com/office/drawing/2014/main" val="3070623654"/>
                    </a:ext>
                  </a:extLst>
                </a:gridCol>
                <a:gridCol w="2261153">
                  <a:extLst>
                    <a:ext uri="{9D8B030D-6E8A-4147-A177-3AD203B41FA5}">
                      <a16:colId xmlns:a16="http://schemas.microsoft.com/office/drawing/2014/main" val="1526958809"/>
                    </a:ext>
                  </a:extLst>
                </a:gridCol>
                <a:gridCol w="2191578">
                  <a:extLst>
                    <a:ext uri="{9D8B030D-6E8A-4147-A177-3AD203B41FA5}">
                      <a16:colId xmlns:a16="http://schemas.microsoft.com/office/drawing/2014/main" val="3371656403"/>
                    </a:ext>
                  </a:extLst>
                </a:gridCol>
                <a:gridCol w="710648">
                  <a:extLst>
                    <a:ext uri="{9D8B030D-6E8A-4147-A177-3AD203B41FA5}">
                      <a16:colId xmlns:a16="http://schemas.microsoft.com/office/drawing/2014/main" val="1185273979"/>
                    </a:ext>
                  </a:extLst>
                </a:gridCol>
                <a:gridCol w="2067339">
                  <a:extLst>
                    <a:ext uri="{9D8B030D-6E8A-4147-A177-3AD203B41FA5}">
                      <a16:colId xmlns:a16="http://schemas.microsoft.com/office/drawing/2014/main" val="2914586787"/>
                    </a:ext>
                  </a:extLst>
                </a:gridCol>
              </a:tblGrid>
              <a:tr h="923074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Subnets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AZs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CIDR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90277"/>
                  </a:ext>
                </a:extLst>
              </a:tr>
              <a:tr h="923074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 dirty="0"/>
                        <a:t>us-west-2 (Oregon)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Primary production VPC (web, app, primary DB, S3, ALB)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 (3 public, 3 app, 3 </a:t>
                      </a:r>
                      <a:r>
                        <a:rPr lang="en-US" sz="1400" dirty="0" err="1"/>
                        <a:t>db</a:t>
                      </a:r>
                      <a:r>
                        <a:rPr lang="en-US" sz="1400" dirty="0"/>
                        <a:t>)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dirty="0"/>
                        <a:t>10.0.0.0/16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808500"/>
                  </a:ext>
                </a:extLst>
              </a:tr>
              <a:tr h="923074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 dirty="0"/>
                        <a:t>us-east-1 (N. Virginia)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 dirty="0"/>
                        <a:t>Secondary DR / warm-standby VPC (replica DB or restore target, staging, smaller web/app)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 (2 public, 2 app, 2 </a:t>
                      </a:r>
                      <a:r>
                        <a:rPr lang="en-US" sz="1400" dirty="0" err="1"/>
                        <a:t>db</a:t>
                      </a:r>
                      <a:r>
                        <a:rPr lang="en-US" sz="1400" dirty="0"/>
                        <a:t>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dirty="0"/>
                        <a:t>10.1.0.0/16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67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79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FFB1-2521-CDC5-25F3-07C8FE15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1119990"/>
          </a:xfrm>
        </p:spPr>
        <p:txBody>
          <a:bodyPr>
            <a:normAutofit/>
          </a:bodyPr>
          <a:lstStyle/>
          <a:p>
            <a:r>
              <a:rPr lang="en-MY" sz="4000" dirty="0"/>
              <a:t>Proposed VPC </a:t>
            </a:r>
            <a:r>
              <a:rPr lang="en-MY" sz="4000" dirty="0" err="1"/>
              <a:t>ArchitectureDiagram</a:t>
            </a:r>
            <a:r>
              <a:rPr lang="en-MY" sz="40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44120-DD96-AEDD-C63D-B0BDEFBAB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710" y="1668601"/>
            <a:ext cx="9914965" cy="46466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9653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8F94-E8FF-E46C-AEE0-43AD40AE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Subnet Table (detailed)</a:t>
            </a:r>
            <a:br>
              <a:rPr lang="en-MY" dirty="0"/>
            </a:br>
            <a:r>
              <a:rPr lang="en-MY" dirty="0"/>
              <a:t>Primary (us-west-2)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E83AF7-FBA5-F4EF-C87C-029C6A2C1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550611"/>
              </p:ext>
            </p:extLst>
          </p:nvPr>
        </p:nvGraphicFramePr>
        <p:xfrm>
          <a:off x="1587500" y="2160588"/>
          <a:ext cx="9486900" cy="3977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41433572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3898184957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658419798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178877453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3535197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Subnet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AZ</a:t>
                      </a:r>
                      <a:endParaRPr lang="en-MY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Subnet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71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10.0.1.0/24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09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10.0.2.0/24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61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10.0.3.0/24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1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App-1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us-west-2a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10.0.10.0/24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68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App-2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10.0.11.0/24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850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App-3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10.0.12.0/24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3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DB-1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10.0.20.0/24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093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DB-2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10.0.21.0/24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80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DB-3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us-west-2c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10.0.22.0/24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836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47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AC3C-3487-23FF-24D6-C97C70FA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Secondary (us-east-1)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5AF478-8EDF-7E16-D263-6BFCFFFDA8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733761"/>
              </p:ext>
            </p:extLst>
          </p:nvPr>
        </p:nvGraphicFramePr>
        <p:xfrm>
          <a:off x="1587500" y="2160588"/>
          <a:ext cx="9486900" cy="2865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164168477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13012675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322427054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1688621347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533072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Subnet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AZ</a:t>
                      </a:r>
                      <a:endParaRPr lang="en-MY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Subnet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99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DR-Public-1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us-east-1a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10.1.1.0/24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7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DR-Public-2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us-east-1b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10.1.2.0/24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82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DR-App-1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us-east-1a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10.1.10.0/24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043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DR-App-2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us-east-1b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10.1.11.0/24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05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DR-DB-1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us-east-1a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10.1.20.0/24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00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DR-DB-2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Private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us-east-1b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10.1.21.0/24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9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02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8175-FA95-CE8C-C4FB-2ED00D02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– Security Group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4673F5-4F74-8816-36FE-AAA89CC76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279613"/>
              </p:ext>
            </p:extLst>
          </p:nvPr>
        </p:nvGraphicFramePr>
        <p:xfrm>
          <a:off x="1587500" y="1769165"/>
          <a:ext cx="9486900" cy="278410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1725">
                  <a:extLst>
                    <a:ext uri="{9D8B030D-6E8A-4147-A177-3AD203B41FA5}">
                      <a16:colId xmlns:a16="http://schemas.microsoft.com/office/drawing/2014/main" val="4006706486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3470407918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74802247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1498396469"/>
                    </a:ext>
                  </a:extLst>
                </a:gridCol>
              </a:tblGrid>
              <a:tr h="431506">
                <a:tc>
                  <a:txBody>
                    <a:bodyPr/>
                    <a:lstStyle/>
                    <a:p>
                      <a:r>
                        <a:rPr lang="en-MY" sz="1600" dirty="0"/>
                        <a:t>Security Group (SG)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SG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Rule (Allowed 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48188"/>
                  </a:ext>
                </a:extLst>
              </a:tr>
              <a:tr h="431506">
                <a:tc>
                  <a:txBody>
                    <a:bodyPr/>
                    <a:lstStyle/>
                    <a:p>
                      <a:r>
                        <a:rPr lang="en-MY" dirty="0"/>
                        <a:t>ELB 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sg-</a:t>
                      </a:r>
                      <a:r>
                        <a:rPr lang="en-MY" dirty="0" err="1"/>
                        <a:t>alb</a:t>
                      </a:r>
                      <a:r>
                        <a:rPr lang="en-MY" dirty="0"/>
                        <a:t>-public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TCP 80, 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0.0.0.0/0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65046"/>
                  </a:ext>
                </a:extLst>
              </a:tr>
              <a:tr h="431506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Web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sg-web-tier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TCP 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ALB Security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566050"/>
                  </a:ext>
                </a:extLst>
              </a:tr>
              <a:tr h="74479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App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sg-app-tier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TCP 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Web Tier Security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74317"/>
                  </a:ext>
                </a:extLst>
              </a:tr>
              <a:tr h="74479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Database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sg-</a:t>
                      </a:r>
                      <a:r>
                        <a:rPr lang="en-MY" dirty="0" err="1"/>
                        <a:t>db</a:t>
                      </a:r>
                      <a:r>
                        <a:rPr lang="en-MY" dirty="0"/>
                        <a:t>-tier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TCP 3306 (MySQL)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App Tier Security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313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37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906C-663E-5CD3-C7CC-59E896E6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– Encryption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FF2872-94C0-6805-498B-EFB4B25E0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635288"/>
              </p:ext>
            </p:extLst>
          </p:nvPr>
        </p:nvGraphicFramePr>
        <p:xfrm>
          <a:off x="1587500" y="2160588"/>
          <a:ext cx="9486900" cy="211820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43450">
                  <a:extLst>
                    <a:ext uri="{9D8B030D-6E8A-4147-A177-3AD203B41FA5}">
                      <a16:colId xmlns:a16="http://schemas.microsoft.com/office/drawing/2014/main" val="2551679251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1738225446"/>
                    </a:ext>
                  </a:extLst>
                </a:gridCol>
              </a:tblGrid>
              <a:tr h="47578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717767"/>
                  </a:ext>
                </a:extLst>
              </a:tr>
              <a:tr h="821213">
                <a:tc>
                  <a:txBody>
                    <a:bodyPr/>
                    <a:lstStyle/>
                    <a:p>
                      <a:pPr algn="ctr"/>
                      <a:r>
                        <a:rPr lang="en-MY" b="0" dirty="0"/>
                        <a:t>Encryption option for data at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KMS–managed encryption for RDS (io2), EBS volumes, and S3 buckets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95322"/>
                  </a:ext>
                </a:extLst>
              </a:tr>
              <a:tr h="82121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Encryption option for data in transit</a:t>
                      </a:r>
                      <a:endParaRPr lang="en-MY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TLS 1.2/1.3 for ALB HTTPS traffic, SSL/TLS for RDS connections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2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7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70CD-9479-F3F9-FE15-AD980204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960964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Design – Instance Details</a:t>
            </a:r>
            <a:br>
              <a:rPr lang="en-US" sz="3600" dirty="0"/>
            </a:br>
            <a:r>
              <a:rPr lang="en-US" sz="3600" dirty="0"/>
              <a:t>Instance Specification per Tier</a:t>
            </a:r>
            <a:br>
              <a:rPr lang="en-US" dirty="0"/>
            </a:b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17BEA7-DB1E-65FE-AB45-FB52647AE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821239"/>
              </p:ext>
            </p:extLst>
          </p:nvPr>
        </p:nvGraphicFramePr>
        <p:xfrm>
          <a:off x="1292088" y="1794013"/>
          <a:ext cx="10515596" cy="44869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05677">
                  <a:extLst>
                    <a:ext uri="{9D8B030D-6E8A-4147-A177-3AD203B41FA5}">
                      <a16:colId xmlns:a16="http://schemas.microsoft.com/office/drawing/2014/main" val="2183315747"/>
                    </a:ext>
                  </a:extLst>
                </a:gridCol>
                <a:gridCol w="1401418">
                  <a:extLst>
                    <a:ext uri="{9D8B030D-6E8A-4147-A177-3AD203B41FA5}">
                      <a16:colId xmlns:a16="http://schemas.microsoft.com/office/drawing/2014/main" val="2041231181"/>
                    </a:ext>
                  </a:extLst>
                </a:gridCol>
                <a:gridCol w="1386508">
                  <a:extLst>
                    <a:ext uri="{9D8B030D-6E8A-4147-A177-3AD203B41FA5}">
                      <a16:colId xmlns:a16="http://schemas.microsoft.com/office/drawing/2014/main" val="2786987379"/>
                    </a:ext>
                  </a:extLst>
                </a:gridCol>
                <a:gridCol w="1043609">
                  <a:extLst>
                    <a:ext uri="{9D8B030D-6E8A-4147-A177-3AD203B41FA5}">
                      <a16:colId xmlns:a16="http://schemas.microsoft.com/office/drawing/2014/main" val="1963922991"/>
                    </a:ext>
                  </a:extLst>
                </a:gridCol>
                <a:gridCol w="1381539">
                  <a:extLst>
                    <a:ext uri="{9D8B030D-6E8A-4147-A177-3AD203B41FA5}">
                      <a16:colId xmlns:a16="http://schemas.microsoft.com/office/drawing/2014/main" val="4151441848"/>
                    </a:ext>
                  </a:extLst>
                </a:gridCol>
                <a:gridCol w="3094617">
                  <a:extLst>
                    <a:ext uri="{9D8B030D-6E8A-4147-A177-3AD203B41FA5}">
                      <a16:colId xmlns:a16="http://schemas.microsoft.com/office/drawing/2014/main" val="197579788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162924871"/>
                    </a:ext>
                  </a:extLst>
                </a:gridCol>
              </a:tblGrid>
              <a:tr h="877734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Justification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# of Instances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23443"/>
                  </a:ext>
                </a:extLst>
              </a:tr>
              <a:tr h="1438083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Amazon Linux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Key: Name</a:t>
                      </a:r>
                      <a:br>
                        <a:rPr lang="en-MY" sz="1600" dirty="0"/>
                      </a:br>
                      <a:r>
                        <a:rPr lang="en-MY" sz="1600" dirty="0"/>
                        <a:t>Value: web-tier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t3.medium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Handles HTTP requests efficiently, cost-effective, supports Auto Scaling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Min 2 / Max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734368"/>
                  </a:ext>
                </a:extLst>
              </a:tr>
              <a:tr h="1104348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Amazon Linux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Key: Name</a:t>
                      </a:r>
                      <a:br>
                        <a:rPr lang="en-MY" sz="1600" dirty="0"/>
                      </a:br>
                      <a:r>
                        <a:rPr lang="en-MY" sz="1600" dirty="0"/>
                        <a:t>Value: app-tier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t3.large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Supports document processing and business logic with higher memory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Min 2 / Max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55000"/>
                  </a:ext>
                </a:extLst>
              </a:tr>
              <a:tr h="508529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N/A (Managed)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Amazon RDS (MySQL)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db.m6i.large + io2</a:t>
                      </a:r>
                      <a:endParaRPr lang="en-MY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High IOPS, Multi-AZ support, fully managed, meets performance and availability requirements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 primary + 1 standby</a:t>
                      </a:r>
                      <a:endParaRPr lang="en-MY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07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930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B051-5073-16CB-BE32-65E4689E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318773"/>
          </a:xfrm>
        </p:spPr>
        <p:txBody>
          <a:bodyPr/>
          <a:lstStyle/>
          <a:p>
            <a:r>
              <a:rPr lang="en-MY" dirty="0"/>
              <a:t>Design: Recovery </a:t>
            </a:r>
            <a:r>
              <a:rPr lang="en-MY" dirty="0" err="1"/>
              <a:t>PointObjective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CD8F4-5C45-681B-4E73-1CC8C26CF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515713"/>
            <a:ext cx="9486690" cy="3926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How would you achieve a Recovery Point Objective (RPO) of four hours?</a:t>
            </a:r>
          </a:p>
          <a:p>
            <a:r>
              <a:rPr lang="en-US" sz="1400" dirty="0"/>
              <a:t>A Recovery Point Objective (RPO) of four hours is achieved by implementing a multi-layered backup and replication strategy across AWS services. The primary Amazon RDS database in the us-west-2 region is configured with automated backups and frequent transaction log backups, ensuring that data can be restored to a point within the last four hours. In addition, scheduled cross-region snapshot copies are enabled to replicate database backups from the primary region (us-west-2) to the disaster recovery region (us-east-1).</a:t>
            </a:r>
          </a:p>
          <a:p>
            <a:r>
              <a:rPr lang="en-US" sz="1400" dirty="0"/>
              <a:t>For unstructured data such as customer documents and images, Amazon S3 is used with versioning and cross-region replication enabled. This ensures that object changes are continuously replicated to the secondary region within the required recovery window. Together, automated RDS backups, cross-region snapshot replication, and S3 cross-region replication ensure that in the event of a regional failure, no more than four hours of data is lost, thereby meeting the defined RPO requirement.</a:t>
            </a:r>
          </a:p>
          <a:p>
            <a:pPr marL="0" indent="0">
              <a:buNone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825802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79B02-39DC-79F6-2913-370B98F0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Design: </a:t>
            </a:r>
            <a:r>
              <a:rPr lang="en-MY" sz="4000" dirty="0" err="1"/>
              <a:t>DocumentStorage</a:t>
            </a:r>
            <a:r>
              <a:rPr lang="en-MY" sz="4000" dirty="0"/>
              <a:t>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6313D3A-36BB-9D43-785F-2C9154DF4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726519"/>
              </p:ext>
            </p:extLst>
          </p:nvPr>
        </p:nvGraphicFramePr>
        <p:xfrm>
          <a:off x="1587500" y="1415153"/>
          <a:ext cx="9486900" cy="51397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43450">
                  <a:extLst>
                    <a:ext uri="{9D8B030D-6E8A-4147-A177-3AD203B41FA5}">
                      <a16:colId xmlns:a16="http://schemas.microsoft.com/office/drawing/2014/main" val="3820110246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1145651462"/>
                    </a:ext>
                  </a:extLst>
                </a:gridCol>
              </a:tblGrid>
              <a:tr h="38561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Storage / Archive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305264"/>
                  </a:ext>
                </a:extLst>
              </a:tr>
              <a:tr h="2377047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Amazon S3 (Standard)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Amazon S3 Standard is used for active document storage such as user uploads, reports, and application-generated files. It provides high durability (99.999999999%), high availability, and low-latency access. The S3 bucket is hosted in the primary region (us-west-2) and is integrated with the application running in private subnets.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768248"/>
                  </a:ext>
                </a:extLst>
              </a:tr>
              <a:tr h="23770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Amazon S3 with Versioning &amp; Cross-Region Replication (CRR)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 versioning is enabled to protect against accidental deletion or overwrites. Cross-Region Replication is configured to replicate all documents automatically from the primary region (us-west-2) to the disaster recovery region (us-east-1). This ensures data resilience and supports the four-hour Recovery Point Objective (RPO).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352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48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B094-99AC-3D6A-2B0F-BD7B754A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27" y="107811"/>
            <a:ext cx="9486690" cy="1189564"/>
          </a:xfrm>
        </p:spPr>
        <p:txBody>
          <a:bodyPr>
            <a:normAutofit/>
          </a:bodyPr>
          <a:lstStyle/>
          <a:p>
            <a:r>
              <a:rPr lang="en-MY" sz="4000" dirty="0"/>
              <a:t>Design: </a:t>
            </a:r>
            <a:r>
              <a:rPr lang="en-MY" sz="4000" dirty="0" err="1"/>
              <a:t>WebTier</a:t>
            </a:r>
            <a:r>
              <a:rPr lang="en-MY" sz="4000" dirty="0"/>
              <a:t>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725A13C-68FF-4C4B-5E2A-2DA7575F0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668241"/>
              </p:ext>
            </p:extLst>
          </p:nvPr>
        </p:nvGraphicFramePr>
        <p:xfrm>
          <a:off x="1202083" y="849795"/>
          <a:ext cx="10560878" cy="591961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280439">
                  <a:extLst>
                    <a:ext uri="{9D8B030D-6E8A-4147-A177-3AD203B41FA5}">
                      <a16:colId xmlns:a16="http://schemas.microsoft.com/office/drawing/2014/main" val="359109656"/>
                    </a:ext>
                  </a:extLst>
                </a:gridCol>
                <a:gridCol w="5280439">
                  <a:extLst>
                    <a:ext uri="{9D8B030D-6E8A-4147-A177-3AD203B41FA5}">
                      <a16:colId xmlns:a16="http://schemas.microsoft.com/office/drawing/2014/main" val="3262891292"/>
                    </a:ext>
                  </a:extLst>
                </a:gridCol>
              </a:tblGrid>
              <a:tr h="356834">
                <a:tc>
                  <a:txBody>
                    <a:bodyPr/>
                    <a:lstStyle/>
                    <a:p>
                      <a:r>
                        <a:rPr lang="en-MY" dirty="0"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387367"/>
                  </a:ext>
                </a:extLst>
              </a:tr>
              <a:tr h="1495686">
                <a:tc>
                  <a:txBody>
                    <a:bodyPr/>
                    <a:lstStyle/>
                    <a:p>
                      <a:r>
                        <a:rPr lang="en-US" sz="1600" dirty="0"/>
                        <a:t>Architecture must be flexible and handle any peak in traffic or performance.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a</a:t>
                      </a:r>
                      <a:r>
                        <a:rPr lang="en-US" sz="1600" b="0" dirty="0"/>
                        <a:t>n EC2 Auto Scaling Group behind an Application Load Balancer (ALB) </a:t>
                      </a:r>
                      <a:r>
                        <a:rPr lang="en-US" sz="1600" dirty="0"/>
                        <a:t>to automatically scale the number of EC2 instances based on traffic demand, ensuring high availability and performance during peak loads.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706410"/>
                  </a:ext>
                </a:extLst>
              </a:tr>
              <a:tr h="1731846">
                <a:tc>
                  <a:txBody>
                    <a:bodyPr/>
                    <a:lstStyle/>
                    <a:p>
                      <a:r>
                        <a:rPr lang="en-US" sz="1600" dirty="0"/>
                        <a:t>The overall acceptable incoming network bandwidth is between 300 Mbps and 750 Mbps.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Deploy an Application Load Balancer and use Amazon CloudWatch to </a:t>
                      </a:r>
                      <a:r>
                        <a:rPr lang="en-US" sz="1600" dirty="0"/>
                        <a:t>monitor network throughput and request metrics. Configure </a:t>
                      </a:r>
                      <a:r>
                        <a:rPr lang="en-US" sz="1600" b="0" dirty="0"/>
                        <a:t>Auto Scaling policies </a:t>
                      </a:r>
                      <a:r>
                        <a:rPr lang="en-US" sz="1600" dirty="0"/>
                        <a:t>to add or remove EC2 instances when bandwidth usage increases, ensuring performance stays within acceptable limits.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040135"/>
                  </a:ext>
                </a:extLst>
              </a:tr>
              <a:tr h="1040766">
                <a:tc>
                  <a:txBody>
                    <a:bodyPr/>
                    <a:lstStyle/>
                    <a:p>
                      <a:r>
                        <a:rPr lang="en-US" sz="1600" dirty="0"/>
                        <a:t>Application administrators want to be notified by email if there are more than 100 “400 HTTP errors” per minute in the application.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Configure a CloudWatch Alarm to monitor ALB HTTP 4XX error metrics and trigger an Amazon SNS email notification </a:t>
                      </a:r>
                      <a:r>
                        <a:rPr lang="en-US" sz="1600" dirty="0"/>
                        <a:t>when the error count exceeds 100 per minute.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34158"/>
                  </a:ext>
                </a:extLst>
              </a:tr>
              <a:tr h="1259525">
                <a:tc>
                  <a:txBody>
                    <a:bodyPr/>
                    <a:lstStyle/>
                    <a:p>
                      <a:r>
                        <a:rPr lang="en-US" sz="1600" dirty="0"/>
                        <a:t>Web Tier instances should be tagged as “Key=Name” and “Value=web-tier”.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Configure the </a:t>
                      </a:r>
                      <a:r>
                        <a:rPr lang="en-US" sz="1600" b="0" dirty="0"/>
                        <a:t>Auto Scaling Group to automatically apply EC2 tags (Key=Name, Value=web-tier) </a:t>
                      </a:r>
                      <a:r>
                        <a:rPr lang="en-US" sz="1600" dirty="0"/>
                        <a:t>to all launched web tier instances for easier identification, management, and cost tracking.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287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478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E15C-1BD1-301B-FC5B-843326B9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dirty="0"/>
              <a:t>Application Tier Design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4378B6-DEC5-DBA9-5D40-FD75884F7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041988"/>
              </p:ext>
            </p:extLst>
          </p:nvPr>
        </p:nvGraphicFramePr>
        <p:xfrm>
          <a:off x="1587500" y="2160588"/>
          <a:ext cx="9486900" cy="3937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43450">
                  <a:extLst>
                    <a:ext uri="{9D8B030D-6E8A-4147-A177-3AD203B41FA5}">
                      <a16:colId xmlns:a16="http://schemas.microsoft.com/office/drawing/2014/main" val="422533499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2000822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46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Architecture must be flexible and handle any peak in traffic or performance.</a:t>
                      </a:r>
                    </a:p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Use EC2 Auto Scaling Group to automatically adjust capacity based on CPU and memory metrics.</a:t>
                      </a:r>
                    </a:p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2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Overall memory and CPU utilization should not go above 80% and 75% respectively or below 30% for either.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Configure CloudWatch alarms to monitor utilization and trigger scaling actions to stay within thresholds.</a:t>
                      </a:r>
                    </a:p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92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Internet access is required for patching and updates without exposing the servers.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Deploy NAT Gateways in public subnets to allow outbound internet access from private app instances.</a:t>
                      </a:r>
                    </a:p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998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99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D671-CAD3-E506-724F-79FB8785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442" y="241671"/>
            <a:ext cx="9486690" cy="1550419"/>
          </a:xfrm>
        </p:spPr>
        <p:txBody>
          <a:bodyPr>
            <a:normAutofit/>
          </a:bodyPr>
          <a:lstStyle/>
          <a:p>
            <a:r>
              <a:rPr lang="en-MY" sz="4000" dirty="0"/>
              <a:t>Design: Database Tier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F05C55-03CD-79A9-C193-FD5B62671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992268"/>
              </p:ext>
            </p:extLst>
          </p:nvPr>
        </p:nvGraphicFramePr>
        <p:xfrm>
          <a:off x="1433442" y="1230571"/>
          <a:ext cx="9486900" cy="557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43450">
                  <a:extLst>
                    <a:ext uri="{9D8B030D-6E8A-4147-A177-3AD203B41FA5}">
                      <a16:colId xmlns:a16="http://schemas.microsoft.com/office/drawing/2014/main" val="3246972903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3691927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 dirty="0"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218909"/>
                  </a:ext>
                </a:extLst>
              </a:tr>
              <a:tr h="1495901">
                <a:tc>
                  <a:txBody>
                    <a:bodyPr/>
                    <a:lstStyle/>
                    <a:p>
                      <a:r>
                        <a:rPr lang="en-MY" dirty="0"/>
                        <a:t>Database needs consistent storage performance at 21,000 IOPS.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Use Amazon RDS with Provisioned IOPS (io1/io2) EBS storage. Provisioned IOPS ensures predictable and consistent high performance suitable for transactional insurance workloads requiring 21,000 IOPS.</a:t>
                      </a:r>
                      <a:endParaRPr lang="en-MY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119370"/>
                  </a:ext>
                </a:extLst>
              </a:tr>
              <a:tr h="1495901">
                <a:tc>
                  <a:txBody>
                    <a:bodyPr/>
                    <a:lstStyle/>
                    <a:p>
                      <a:r>
                        <a:rPr lang="en-US" dirty="0"/>
                        <a:t>High availability is a requirement.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b="0" dirty="0"/>
                        <a:t>Enable Amazon RDS Multi-AZ deployment. This automatically maintains a synchronous standby replica in a different Availability Zone, providing automatic failover and minimal downtime during failures.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250042"/>
                  </a:ext>
                </a:extLst>
              </a:tr>
              <a:tr h="1495901">
                <a:tc>
                  <a:txBody>
                    <a:bodyPr/>
                    <a:lstStyle/>
                    <a:p>
                      <a:r>
                        <a:rPr lang="en-US" dirty="0"/>
                        <a:t>No change to the database schema can be made at this time.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Use a managed relational database engine (Amazon RDS – e.g., MySQL or PostgreSQL). RDS allows lift-and-shift migration without schema changes, ensuring application compatibility and reducing migration risk.</a:t>
                      </a:r>
                      <a:endParaRPr lang="en-MY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867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02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AF49-139E-51F3-8983-6A1FF7C8F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– Additional Services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85F530-803B-EEAD-C5A1-D9F7CBFF24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592" y="1420080"/>
            <a:ext cx="1023488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1-Amazon CloudWatch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monitor CPU, memory, and HTTP error metrics across all tiers and trigger alarms for scaling or alerts.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2-Amazon SNS (Simple Notification Service)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send email alerts to administrators when 400 HTTP errors exceed 100 per minute.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3-Amazon S3 with Cross-Region Replication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document continuity and durability across primary and DR regions.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4-Amazon RDS Snapshot Copy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disaster recovery by preserving database backups across regions, aligned with RPO goals.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5-AWS Auto Scaling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adjusts EC2 capacity in Web and Application tiers to handle performance spikes and maintain target utilization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543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9CB6-BF11-ED84-C23E-D30F3BA9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204473"/>
          </a:xfrm>
        </p:spPr>
        <p:txBody>
          <a:bodyPr>
            <a:normAutofit/>
          </a:bodyPr>
          <a:lstStyle/>
          <a:p>
            <a:r>
              <a:rPr lang="en-MY" sz="4000" dirty="0"/>
              <a:t>Proposed </a:t>
            </a:r>
            <a:r>
              <a:rPr lang="en-MY" sz="4000" dirty="0" err="1"/>
              <a:t>ArchitectureDiagram</a:t>
            </a:r>
            <a:r>
              <a:rPr lang="en-MY" sz="40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1442F-DD0B-FFF8-5224-EFBEA7EA5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087" y="2160588"/>
            <a:ext cx="7499073" cy="3925887"/>
          </a:xfrm>
        </p:spPr>
      </p:pic>
    </p:spTree>
    <p:extLst>
      <p:ext uri="{BB962C8B-B14F-4D97-AF65-F5344CB8AC3E}">
        <p14:creationId xmlns:p14="http://schemas.microsoft.com/office/powerpoint/2010/main" val="3712733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CB4C-5F2F-EA05-13DF-6A713139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756095"/>
          </a:xfrm>
        </p:spPr>
        <p:txBody>
          <a:bodyPr>
            <a:normAutofit/>
          </a:bodyPr>
          <a:lstStyle/>
          <a:p>
            <a:r>
              <a:rPr lang="en-US" sz="2400" dirty="0" err="1"/>
              <a:t>GoGreen</a:t>
            </a:r>
            <a:r>
              <a:rPr lang="en-US" sz="2400" dirty="0"/>
              <a:t> Insurance Company Cost Considerations The proposed solution should use the most cost-</a:t>
            </a:r>
            <a:r>
              <a:rPr lang="en-US" sz="2400" dirty="0" err="1"/>
              <a:t>consciousfinancial</a:t>
            </a:r>
            <a:r>
              <a:rPr lang="en-US" sz="2400" dirty="0"/>
              <a:t> options. What are the cost considerations?</a:t>
            </a:r>
            <a:endParaRPr lang="en-MY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478A1-EC3D-45E9-AE10-06B9D293F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Cost-Conscious Financial Options</a:t>
            </a:r>
          </a:p>
          <a:p>
            <a:pPr marL="0" indent="0">
              <a:buNone/>
            </a:pPr>
            <a:r>
              <a:rPr lang="en-US" b="1"/>
              <a:t>1- Use </a:t>
            </a:r>
            <a:r>
              <a:rPr lang="en-US" b="1" dirty="0"/>
              <a:t>Auto Scaling for EC2 instances</a:t>
            </a:r>
            <a:br>
              <a:rPr lang="en-US" dirty="0"/>
            </a:br>
            <a:r>
              <a:rPr lang="en-US" dirty="0"/>
              <a:t>Automatically adjusts server capacity based on demand, so you only pay for what you use — no overprovisioning.</a:t>
            </a:r>
          </a:p>
          <a:p>
            <a:pPr marL="0" indent="0">
              <a:buNone/>
            </a:pPr>
            <a:r>
              <a:rPr lang="en-US" b="1" dirty="0"/>
              <a:t>2- Choose gp3 volumes instead of io2 where possible</a:t>
            </a:r>
            <a:br>
              <a:rPr lang="en-US" dirty="0"/>
            </a:br>
            <a:r>
              <a:rPr lang="en-US" dirty="0"/>
              <a:t>gp3 offers high performance at a lower cost, and can be tuned to meet IOPS needs unless strict guarantees are required.</a:t>
            </a:r>
          </a:p>
          <a:p>
            <a:pPr marL="0" indent="0">
              <a:buNone/>
            </a:pPr>
            <a:r>
              <a:rPr lang="en-US" b="1" dirty="0"/>
              <a:t>3- Implement warm standby in DR region</a:t>
            </a:r>
            <a:br>
              <a:rPr lang="en-US" dirty="0"/>
            </a:br>
            <a:r>
              <a:rPr lang="en-US" dirty="0"/>
              <a:t>Keeps disaster recovery costs low by running minimal resources that can scale up only when needed.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67529512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1826</Words>
  <Application>Microsoft Office PowerPoint</Application>
  <PresentationFormat>Widescreen</PresentationFormat>
  <Paragraphs>247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Neue Haas Grotesk Text Pro</vt:lpstr>
      <vt:lpstr>InterweaveVTI</vt:lpstr>
      <vt:lpstr>Cloud Infrastructure  Services</vt:lpstr>
      <vt:lpstr>Company Background &amp; Current Environment</vt:lpstr>
      <vt:lpstr>Current Infrastructure Challenges</vt:lpstr>
      <vt:lpstr>Current Infrastructure Challenges</vt:lpstr>
      <vt:lpstr>Design –Network </vt:lpstr>
      <vt:lpstr>Proposed VPC ArchitectureDiagram </vt:lpstr>
      <vt:lpstr>Subnet Table (detailed) Primary (us-west-2)</vt:lpstr>
      <vt:lpstr>Secondary (us-east-1)</vt:lpstr>
      <vt:lpstr>Design – Security Group</vt:lpstr>
      <vt:lpstr>Design – Encryption</vt:lpstr>
      <vt:lpstr>Design – Instance Details Instance Specification per Tier </vt:lpstr>
      <vt:lpstr>Design: Recovery PointObjective</vt:lpstr>
      <vt:lpstr>Design: DocumentStorage </vt:lpstr>
      <vt:lpstr>Design: WebTier </vt:lpstr>
      <vt:lpstr>Application Tier Design</vt:lpstr>
      <vt:lpstr>Design: Database Tier</vt:lpstr>
      <vt:lpstr>Design – Additional Services</vt:lpstr>
      <vt:lpstr>Proposed ArchitectureDiagram </vt:lpstr>
      <vt:lpstr>GoGreen Insurance Company Cost Considerations The proposed solution should use the most cost-consciousfinancial options. What are the cost considerations?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sanaz phl</dc:creator>
  <cp:lastModifiedBy>sanaz phl</cp:lastModifiedBy>
  <cp:revision>1</cp:revision>
  <dcterms:created xsi:type="dcterms:W3CDTF">2025-11-25T15:17:23Z</dcterms:created>
  <dcterms:modified xsi:type="dcterms:W3CDTF">2026-01-07T14:39:07Z</dcterms:modified>
</cp:coreProperties>
</file>